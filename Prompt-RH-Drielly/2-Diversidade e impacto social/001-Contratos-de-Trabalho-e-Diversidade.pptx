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E2B4AF-6932-478D-A29A-92F67759BD1E}" v="1020" dt="2026-01-27T15:32:35.374"/>
    <p1510:client id="{DDA35B89-7E3A-43A5-8F3D-CDF06F0DF571}" v="20" dt="2026-01-27T16:31:50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Agrupar 47">
            <a:extLst>
              <a:ext uri="{FF2B5EF4-FFF2-40B4-BE49-F238E27FC236}">
                <a16:creationId xmlns:a16="http://schemas.microsoft.com/office/drawing/2014/main" id="{2E3AAA40-D95E-25A5-904B-A04309387CED}"/>
              </a:ext>
            </a:extLst>
          </p:cNvPr>
          <p:cNvGrpSpPr/>
          <p:nvPr/>
        </p:nvGrpSpPr>
        <p:grpSpPr>
          <a:xfrm>
            <a:off x="1893845" y="815972"/>
            <a:ext cx="7122654" cy="5383645"/>
            <a:chOff x="1893845" y="815972"/>
            <a:chExt cx="7122654" cy="5383645"/>
          </a:xfrm>
        </p:grpSpPr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103174A9-58AC-2F5D-6171-EF2EA095C7C3}"/>
                </a:ext>
              </a:extLst>
            </p:cNvPr>
            <p:cNvSpPr/>
            <p:nvPr/>
          </p:nvSpPr>
          <p:spPr>
            <a:xfrm>
              <a:off x="2257622" y="815972"/>
              <a:ext cx="6758877" cy="5011441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6871CF9D-3368-6027-4AA7-228C3FC06617}"/>
                </a:ext>
              </a:extLst>
            </p:cNvPr>
            <p:cNvCxnSpPr/>
            <p:nvPr/>
          </p:nvCxnSpPr>
          <p:spPr>
            <a:xfrm flipV="1">
              <a:off x="2738782" y="3313043"/>
              <a:ext cx="5952435" cy="49695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FCFBE164-FFCF-28E8-1F48-740910EFCA11}"/>
                </a:ext>
              </a:extLst>
            </p:cNvPr>
            <p:cNvCxnSpPr/>
            <p:nvPr/>
          </p:nvCxnSpPr>
          <p:spPr>
            <a:xfrm flipH="1" flipV="1">
              <a:off x="5688181" y="1416023"/>
              <a:ext cx="2562" cy="3857922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ED370F06-D3B1-C068-F87A-AFD6A16AE359}"/>
                </a:ext>
              </a:extLst>
            </p:cNvPr>
            <p:cNvSpPr/>
            <p:nvPr/>
          </p:nvSpPr>
          <p:spPr>
            <a:xfrm>
              <a:off x="2849216" y="1558905"/>
              <a:ext cx="2667000" cy="1457739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2AF183D-983A-D480-6DFE-877D7852EF13}"/>
                </a:ext>
              </a:extLst>
            </p:cNvPr>
            <p:cNvSpPr txBox="1"/>
            <p:nvPr/>
          </p:nvSpPr>
          <p:spPr>
            <a:xfrm>
              <a:off x="2849218" y="2076940"/>
              <a:ext cx="265694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b="1">
                  <a:solidFill>
                    <a:schemeClr val="bg1"/>
                  </a:solidFill>
                </a:rPr>
                <a:t>ESTÁGIO</a:t>
              </a:r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06542DF0-E4C2-3071-C810-4B8E36B7FCEA}"/>
                </a:ext>
              </a:extLst>
            </p:cNvPr>
            <p:cNvSpPr/>
            <p:nvPr/>
          </p:nvSpPr>
          <p:spPr>
            <a:xfrm>
              <a:off x="5878073" y="1518774"/>
              <a:ext cx="2667000" cy="1457739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041DB4F-9271-9E7D-F807-4CEE541CC3DA}"/>
                </a:ext>
              </a:extLst>
            </p:cNvPr>
            <p:cNvSpPr txBox="1"/>
            <p:nvPr/>
          </p:nvSpPr>
          <p:spPr>
            <a:xfrm>
              <a:off x="5891682" y="2077630"/>
              <a:ext cx="264333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b="1">
                  <a:solidFill>
                    <a:schemeClr val="bg1"/>
                  </a:solidFill>
                </a:rPr>
                <a:t>INTERMITENTE</a:t>
              </a: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55D80D06-60AD-9546-2DDC-C5AD2D477386}"/>
                </a:ext>
              </a:extLst>
            </p:cNvPr>
            <p:cNvSpPr/>
            <p:nvPr/>
          </p:nvSpPr>
          <p:spPr>
            <a:xfrm>
              <a:off x="2849215" y="3691767"/>
              <a:ext cx="2667000" cy="145773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DABEEA38-9D34-54B4-6B92-2CCBC7D120B3}"/>
                </a:ext>
              </a:extLst>
            </p:cNvPr>
            <p:cNvSpPr txBox="1"/>
            <p:nvPr/>
          </p:nvSpPr>
          <p:spPr>
            <a:xfrm>
              <a:off x="2849217" y="4196886"/>
              <a:ext cx="265694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b="1">
                  <a:solidFill>
                    <a:schemeClr val="bg1"/>
                  </a:solidFill>
                </a:rPr>
                <a:t>DETERMINADO</a:t>
              </a:r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42C45B14-5CCB-591D-70B4-9EB8CA41C9A5}"/>
                </a:ext>
              </a:extLst>
            </p:cNvPr>
            <p:cNvSpPr/>
            <p:nvPr/>
          </p:nvSpPr>
          <p:spPr>
            <a:xfrm>
              <a:off x="5890989" y="3676085"/>
              <a:ext cx="2667000" cy="1457739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5706808D-550A-103E-D472-9F7D91CB17A0}"/>
                </a:ext>
              </a:extLst>
            </p:cNvPr>
            <p:cNvSpPr txBox="1"/>
            <p:nvPr/>
          </p:nvSpPr>
          <p:spPr>
            <a:xfrm>
              <a:off x="5877384" y="4186047"/>
              <a:ext cx="2670547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b="1">
                  <a:solidFill>
                    <a:schemeClr val="bg1"/>
                  </a:solidFill>
                </a:rPr>
                <a:t>INDETERMINADO</a:t>
              </a:r>
              <a:endParaRPr lang="pt-BR">
                <a:solidFill>
                  <a:schemeClr val="bg1"/>
                </a:solidFill>
              </a:endParaRPr>
            </a:p>
            <a:p>
              <a:pPr algn="ctr"/>
              <a:endParaRPr lang="pt-BR" b="1">
                <a:solidFill>
                  <a:schemeClr val="bg1"/>
                </a:solidFill>
              </a:endParaRP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6FFDF419-AF70-A1EF-D657-FD3FB19646AA}"/>
                </a:ext>
              </a:extLst>
            </p:cNvPr>
            <p:cNvSpPr txBox="1"/>
            <p:nvPr/>
          </p:nvSpPr>
          <p:spPr>
            <a:xfrm>
              <a:off x="2843892" y="5358848"/>
              <a:ext cx="601198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pt-BR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D0BE81E9-64EF-6F0B-A568-A1FB6AC764CD}"/>
                </a:ext>
              </a:extLst>
            </p:cNvPr>
            <p:cNvSpPr txBox="1"/>
            <p:nvPr/>
          </p:nvSpPr>
          <p:spPr>
            <a:xfrm rot="16200000">
              <a:off x="1441151" y="3083146"/>
              <a:ext cx="2121779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2400"/>
                <a:t>Previsibilidade</a:t>
              </a:r>
              <a:endParaRPr lang="pt-BR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AD6E14C4-B40C-1919-32CC-31343E1C8793}"/>
                </a:ext>
              </a:extLst>
            </p:cNvPr>
            <p:cNvSpPr txBox="1"/>
            <p:nvPr/>
          </p:nvSpPr>
          <p:spPr>
            <a:xfrm>
              <a:off x="3782284" y="5364724"/>
              <a:ext cx="3815356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2400">
                  <a:ea typeface="+mn-lt"/>
                  <a:cs typeface="+mn-lt"/>
                </a:rPr>
                <a:t>Alinhamento a Diversidade</a:t>
              </a:r>
              <a:endParaRPr lang="pt-BR" sz="2400"/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FCA6106B-22E6-ED51-CF7C-4C813BBF7AD7}"/>
                </a:ext>
              </a:extLst>
            </p:cNvPr>
            <p:cNvSpPr txBox="1"/>
            <p:nvPr/>
          </p:nvSpPr>
          <p:spPr>
            <a:xfrm rot="16200000">
              <a:off x="1632196" y="1829784"/>
              <a:ext cx="89262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/>
                <a:t>ALTO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DF7E96F5-E17D-E647-EF0F-B1047857A19E}"/>
                </a:ext>
              </a:extLst>
            </p:cNvPr>
            <p:cNvSpPr txBox="1"/>
            <p:nvPr/>
          </p:nvSpPr>
          <p:spPr>
            <a:xfrm>
              <a:off x="7224731" y="5830283"/>
              <a:ext cx="919843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/>
                <a:t>ALTO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47887F1F-2F1A-3324-F47B-058A28915623}"/>
                </a:ext>
              </a:extLst>
            </p:cNvPr>
            <p:cNvSpPr txBox="1"/>
            <p:nvPr/>
          </p:nvSpPr>
          <p:spPr>
            <a:xfrm rot="16200000">
              <a:off x="1645803" y="4483178"/>
              <a:ext cx="89262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/>
                <a:t>BAIXO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2BB57E22-9749-E3C0-5D2C-090A73A548AA}"/>
                </a:ext>
              </a:extLst>
            </p:cNvPr>
            <p:cNvSpPr txBox="1"/>
            <p:nvPr/>
          </p:nvSpPr>
          <p:spPr>
            <a:xfrm>
              <a:off x="3278660" y="5830285"/>
              <a:ext cx="89262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pt-BR"/>
                <a:t>BAIXO</a:t>
              </a: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BE959E05-BBA0-B417-3EF6-BF097A8E7B18}"/>
                </a:ext>
              </a:extLst>
            </p:cNvPr>
            <p:cNvSpPr txBox="1"/>
            <p:nvPr/>
          </p:nvSpPr>
          <p:spPr>
            <a:xfrm>
              <a:off x="3727855" y="956009"/>
              <a:ext cx="3815356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2400"/>
                <a:t>Previsibilidade Contratual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03174A9-58AC-2F5D-6171-EF2EA095C7C3}"/>
              </a:ext>
            </a:extLst>
          </p:cNvPr>
          <p:cNvSpPr/>
          <p:nvPr/>
        </p:nvSpPr>
        <p:spPr>
          <a:xfrm>
            <a:off x="2257622" y="815972"/>
            <a:ext cx="6758877" cy="5011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871CF9D-3368-6027-4AA7-228C3FC06617}"/>
              </a:ext>
            </a:extLst>
          </p:cNvPr>
          <p:cNvCxnSpPr/>
          <p:nvPr/>
        </p:nvCxnSpPr>
        <p:spPr>
          <a:xfrm flipV="1">
            <a:off x="2725867" y="5211585"/>
            <a:ext cx="5952435" cy="4969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CFBE164-FFCF-28E8-1F48-740910EFCA11}"/>
              </a:ext>
            </a:extLst>
          </p:cNvPr>
          <p:cNvCxnSpPr/>
          <p:nvPr/>
        </p:nvCxnSpPr>
        <p:spPr>
          <a:xfrm flipH="1" flipV="1">
            <a:off x="2769334" y="1416023"/>
            <a:ext cx="2562" cy="3857922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D370F06-D3B1-C068-F87A-AFD6A16AE359}"/>
              </a:ext>
            </a:extLst>
          </p:cNvPr>
          <p:cNvSpPr/>
          <p:nvPr/>
        </p:nvSpPr>
        <p:spPr>
          <a:xfrm>
            <a:off x="2849216" y="1558905"/>
            <a:ext cx="2667000" cy="1457739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8" name="CaixaDeTexto 16">
            <a:extLst>
              <a:ext uri="{FF2B5EF4-FFF2-40B4-BE49-F238E27FC236}">
                <a16:creationId xmlns:a16="http://schemas.microsoft.com/office/drawing/2014/main" id="{42AF183D-983A-D480-6DFE-877D7852EF13}"/>
              </a:ext>
            </a:extLst>
          </p:cNvPr>
          <p:cNvSpPr txBox="1"/>
          <p:nvPr/>
        </p:nvSpPr>
        <p:spPr>
          <a:xfrm>
            <a:off x="2849218" y="2076940"/>
            <a:ext cx="265694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>
                <a:solidFill>
                  <a:schemeClr val="bg1"/>
                </a:solidFill>
              </a:rPr>
              <a:t>ESTÁGIO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6542DF0-E4C2-3071-C810-4B8E36B7FCEA}"/>
              </a:ext>
            </a:extLst>
          </p:cNvPr>
          <p:cNvSpPr/>
          <p:nvPr/>
        </p:nvSpPr>
        <p:spPr>
          <a:xfrm>
            <a:off x="5878073" y="1518774"/>
            <a:ext cx="2667000" cy="1457739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0" name="CaixaDeTexto 18">
            <a:extLst>
              <a:ext uri="{FF2B5EF4-FFF2-40B4-BE49-F238E27FC236}">
                <a16:creationId xmlns:a16="http://schemas.microsoft.com/office/drawing/2014/main" id="{4041DB4F-9271-9E7D-F807-4CEE541CC3DA}"/>
              </a:ext>
            </a:extLst>
          </p:cNvPr>
          <p:cNvSpPr txBox="1"/>
          <p:nvPr/>
        </p:nvSpPr>
        <p:spPr>
          <a:xfrm>
            <a:off x="5891682" y="2077630"/>
            <a:ext cx="264333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>
                <a:solidFill>
                  <a:schemeClr val="bg1"/>
                </a:solidFill>
              </a:rPr>
              <a:t>INTERMITENTE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5D80D06-60AD-9546-2DDC-C5AD2D477386}"/>
              </a:ext>
            </a:extLst>
          </p:cNvPr>
          <p:cNvSpPr/>
          <p:nvPr/>
        </p:nvSpPr>
        <p:spPr>
          <a:xfrm>
            <a:off x="2849215" y="3472208"/>
            <a:ext cx="2667000" cy="1457739"/>
          </a:xfrm>
          <a:prstGeom prst="roundRect">
            <a:avLst/>
          </a:prstGeom>
          <a:solidFill>
            <a:srgbClr val="7030A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2" name="CaixaDeTexto 20">
            <a:extLst>
              <a:ext uri="{FF2B5EF4-FFF2-40B4-BE49-F238E27FC236}">
                <a16:creationId xmlns:a16="http://schemas.microsoft.com/office/drawing/2014/main" id="{DABEEA38-9D34-54B4-6B92-2CCBC7D120B3}"/>
              </a:ext>
            </a:extLst>
          </p:cNvPr>
          <p:cNvSpPr txBox="1"/>
          <p:nvPr/>
        </p:nvSpPr>
        <p:spPr>
          <a:xfrm>
            <a:off x="2849217" y="3977327"/>
            <a:ext cx="265694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>
                <a:solidFill>
                  <a:schemeClr val="bg1"/>
                </a:solidFill>
              </a:rPr>
              <a:t>DETERMINADO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2C45B14-5CCB-591D-70B4-9EB8CA41C9A5}"/>
              </a:ext>
            </a:extLst>
          </p:cNvPr>
          <p:cNvSpPr/>
          <p:nvPr/>
        </p:nvSpPr>
        <p:spPr>
          <a:xfrm>
            <a:off x="5890989" y="3456526"/>
            <a:ext cx="2667000" cy="1457739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4" name="CaixaDeTexto 22">
            <a:extLst>
              <a:ext uri="{FF2B5EF4-FFF2-40B4-BE49-F238E27FC236}">
                <a16:creationId xmlns:a16="http://schemas.microsoft.com/office/drawing/2014/main" id="{5706808D-550A-103E-D472-9F7D91CB17A0}"/>
              </a:ext>
            </a:extLst>
          </p:cNvPr>
          <p:cNvSpPr txBox="1"/>
          <p:nvPr/>
        </p:nvSpPr>
        <p:spPr>
          <a:xfrm>
            <a:off x="5877384" y="3966488"/>
            <a:ext cx="2670547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>
                <a:solidFill>
                  <a:schemeClr val="bg1"/>
                </a:solidFill>
              </a:rPr>
              <a:t>INDETERMINADO</a:t>
            </a:r>
            <a:endParaRPr lang="pt-BR">
              <a:solidFill>
                <a:schemeClr val="bg1"/>
              </a:solidFill>
            </a:endParaRPr>
          </a:p>
          <a:p>
            <a:pPr algn="ctr"/>
            <a:endParaRPr lang="pt-BR" b="1">
              <a:solidFill>
                <a:schemeClr val="bg1"/>
              </a:solidFill>
            </a:endParaRPr>
          </a:p>
        </p:txBody>
      </p:sp>
      <p:sp>
        <p:nvSpPr>
          <p:cNvPr id="15" name="CaixaDeTexto 32">
            <a:extLst>
              <a:ext uri="{FF2B5EF4-FFF2-40B4-BE49-F238E27FC236}">
                <a16:creationId xmlns:a16="http://schemas.microsoft.com/office/drawing/2014/main" id="{6FFDF419-AF70-A1EF-D657-FD3FB19646AA}"/>
              </a:ext>
            </a:extLst>
          </p:cNvPr>
          <p:cNvSpPr txBox="1"/>
          <p:nvPr/>
        </p:nvSpPr>
        <p:spPr>
          <a:xfrm>
            <a:off x="2843892" y="5358848"/>
            <a:ext cx="601198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6" name="CaixaDeTexto 37">
            <a:extLst>
              <a:ext uri="{FF2B5EF4-FFF2-40B4-BE49-F238E27FC236}">
                <a16:creationId xmlns:a16="http://schemas.microsoft.com/office/drawing/2014/main" id="{D0BE81E9-64EF-6F0B-A568-A1FB6AC764CD}"/>
              </a:ext>
            </a:extLst>
          </p:cNvPr>
          <p:cNvSpPr txBox="1"/>
          <p:nvPr/>
        </p:nvSpPr>
        <p:spPr>
          <a:xfrm rot="16200000">
            <a:off x="1331372" y="2966908"/>
            <a:ext cx="2328423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/>
              <a:t>RISCO SOCIAL</a:t>
            </a:r>
          </a:p>
        </p:txBody>
      </p:sp>
      <p:sp>
        <p:nvSpPr>
          <p:cNvPr id="17" name="CaixaDeTexto 38">
            <a:extLst>
              <a:ext uri="{FF2B5EF4-FFF2-40B4-BE49-F238E27FC236}">
                <a16:creationId xmlns:a16="http://schemas.microsoft.com/office/drawing/2014/main" id="{AD6E14C4-B40C-1919-32CC-31343E1C8793}"/>
              </a:ext>
            </a:extLst>
          </p:cNvPr>
          <p:cNvSpPr txBox="1"/>
          <p:nvPr/>
        </p:nvSpPr>
        <p:spPr>
          <a:xfrm>
            <a:off x="3782284" y="5364724"/>
            <a:ext cx="3815356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>
                <a:ea typeface="+mn-lt"/>
                <a:cs typeface="+mn-lt"/>
              </a:rPr>
              <a:t>RISCO JURÍDICO</a:t>
            </a:r>
            <a:endParaRPr lang="pt-BR"/>
          </a:p>
        </p:txBody>
      </p:sp>
      <p:sp>
        <p:nvSpPr>
          <p:cNvPr id="18" name="CaixaDeTexto 39">
            <a:extLst>
              <a:ext uri="{FF2B5EF4-FFF2-40B4-BE49-F238E27FC236}">
                <a16:creationId xmlns:a16="http://schemas.microsoft.com/office/drawing/2014/main" id="{FCA6106B-22E6-ED51-CF7C-4C813BBF7AD7}"/>
              </a:ext>
            </a:extLst>
          </p:cNvPr>
          <p:cNvSpPr txBox="1"/>
          <p:nvPr/>
        </p:nvSpPr>
        <p:spPr>
          <a:xfrm rot="16200000">
            <a:off x="2135891" y="1235682"/>
            <a:ext cx="89262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/>
              <a:t>ALTO</a:t>
            </a:r>
          </a:p>
        </p:txBody>
      </p:sp>
      <p:sp>
        <p:nvSpPr>
          <p:cNvPr id="19" name="CaixaDeTexto 40">
            <a:extLst>
              <a:ext uri="{FF2B5EF4-FFF2-40B4-BE49-F238E27FC236}">
                <a16:creationId xmlns:a16="http://schemas.microsoft.com/office/drawing/2014/main" id="{DF7E96F5-E17D-E647-EF0F-B1047857A19E}"/>
              </a:ext>
            </a:extLst>
          </p:cNvPr>
          <p:cNvSpPr txBox="1"/>
          <p:nvPr/>
        </p:nvSpPr>
        <p:spPr>
          <a:xfrm>
            <a:off x="8038392" y="5274927"/>
            <a:ext cx="91984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/>
              <a:t>RISCO</a:t>
            </a:r>
          </a:p>
        </p:txBody>
      </p:sp>
      <p:sp>
        <p:nvSpPr>
          <p:cNvPr id="20" name="CaixaDeTexto 41">
            <a:extLst>
              <a:ext uri="{FF2B5EF4-FFF2-40B4-BE49-F238E27FC236}">
                <a16:creationId xmlns:a16="http://schemas.microsoft.com/office/drawing/2014/main" id="{47887F1F-2F1A-3324-F47B-058A28915623}"/>
              </a:ext>
            </a:extLst>
          </p:cNvPr>
          <p:cNvSpPr txBox="1"/>
          <p:nvPr/>
        </p:nvSpPr>
        <p:spPr>
          <a:xfrm rot="16200000">
            <a:off x="2175328" y="4999789"/>
            <a:ext cx="89262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/>
              <a:t>BAIXO</a:t>
            </a:r>
          </a:p>
        </p:txBody>
      </p:sp>
      <p:sp>
        <p:nvSpPr>
          <p:cNvPr id="21" name="CaixaDeTexto 45">
            <a:extLst>
              <a:ext uri="{FF2B5EF4-FFF2-40B4-BE49-F238E27FC236}">
                <a16:creationId xmlns:a16="http://schemas.microsoft.com/office/drawing/2014/main" id="{BE959E05-BBA0-B417-3EF6-BF097A8E7B18}"/>
              </a:ext>
            </a:extLst>
          </p:cNvPr>
          <p:cNvSpPr txBox="1"/>
          <p:nvPr/>
        </p:nvSpPr>
        <p:spPr>
          <a:xfrm>
            <a:off x="3727855" y="956009"/>
            <a:ext cx="3815356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/>
              <a:t>Previsibilidade Contratual</a:t>
            </a:r>
          </a:p>
        </p:txBody>
      </p:sp>
    </p:spTree>
    <p:extLst>
      <p:ext uri="{BB962C8B-B14F-4D97-AF65-F5344CB8AC3E}">
        <p14:creationId xmlns:p14="http://schemas.microsoft.com/office/powerpoint/2010/main" val="258090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Gráfico&#10;&#10;O conteúdo gerado por IA pode estar incorreto.">
            <a:extLst>
              <a:ext uri="{FF2B5EF4-FFF2-40B4-BE49-F238E27FC236}">
                <a16:creationId xmlns:a16="http://schemas.microsoft.com/office/drawing/2014/main" id="{C61193A4-A94A-2C29-E577-D595B29C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8" y="138113"/>
            <a:ext cx="7629525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07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C9B015C-1E13-44B4-E84A-24E6D8144A1A}"/>
              </a:ext>
            </a:extLst>
          </p:cNvPr>
          <p:cNvSpPr/>
          <p:nvPr/>
        </p:nvSpPr>
        <p:spPr>
          <a:xfrm>
            <a:off x="2257622" y="815972"/>
            <a:ext cx="6758877" cy="5011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6F5DEC09-5649-C32C-021B-25D33A0FFBCB}"/>
              </a:ext>
            </a:extLst>
          </p:cNvPr>
          <p:cNvCxnSpPr/>
          <p:nvPr/>
        </p:nvCxnSpPr>
        <p:spPr>
          <a:xfrm flipV="1">
            <a:off x="2738782" y="3313043"/>
            <a:ext cx="5952435" cy="49695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59D9487-FD81-49DD-0008-10F589BE15BD}"/>
              </a:ext>
            </a:extLst>
          </p:cNvPr>
          <p:cNvCxnSpPr/>
          <p:nvPr/>
        </p:nvCxnSpPr>
        <p:spPr>
          <a:xfrm flipH="1" flipV="1">
            <a:off x="5688181" y="1416023"/>
            <a:ext cx="2562" cy="3857922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D9DE5A1-2287-33CC-A3DC-C604097EC83F}"/>
              </a:ext>
            </a:extLst>
          </p:cNvPr>
          <p:cNvSpPr/>
          <p:nvPr/>
        </p:nvSpPr>
        <p:spPr>
          <a:xfrm>
            <a:off x="2849216" y="1558905"/>
            <a:ext cx="2667000" cy="145773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38AA95-8B81-31B4-5E25-3C6BAD86473F}"/>
              </a:ext>
            </a:extLst>
          </p:cNvPr>
          <p:cNvSpPr txBox="1"/>
          <p:nvPr/>
        </p:nvSpPr>
        <p:spPr>
          <a:xfrm>
            <a:off x="2849218" y="2076940"/>
            <a:ext cx="26569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>
                <a:solidFill>
                  <a:schemeClr val="bg1"/>
                </a:solidFill>
              </a:rPr>
              <a:t>ESTÁGIO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3BE4497-5612-DAA9-9C12-8219EB9DE748}"/>
              </a:ext>
            </a:extLst>
          </p:cNvPr>
          <p:cNvSpPr/>
          <p:nvPr/>
        </p:nvSpPr>
        <p:spPr>
          <a:xfrm>
            <a:off x="5878073" y="1518774"/>
            <a:ext cx="2667000" cy="145773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A95083-E765-482C-872E-45D4E19E0770}"/>
              </a:ext>
            </a:extLst>
          </p:cNvPr>
          <p:cNvSpPr txBox="1"/>
          <p:nvPr/>
        </p:nvSpPr>
        <p:spPr>
          <a:xfrm>
            <a:off x="5891682" y="2077630"/>
            <a:ext cx="26433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>
                <a:solidFill>
                  <a:schemeClr val="bg1"/>
                </a:solidFill>
              </a:rPr>
              <a:t>INDETERMINADO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A64F1E6-71B3-F85C-1A32-46842F50A029}"/>
              </a:ext>
            </a:extLst>
          </p:cNvPr>
          <p:cNvSpPr/>
          <p:nvPr/>
        </p:nvSpPr>
        <p:spPr>
          <a:xfrm>
            <a:off x="2849215" y="3691767"/>
            <a:ext cx="2667000" cy="145773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FF0F04F-AFAF-F214-5059-31CB37A041E2}"/>
              </a:ext>
            </a:extLst>
          </p:cNvPr>
          <p:cNvSpPr txBox="1"/>
          <p:nvPr/>
        </p:nvSpPr>
        <p:spPr>
          <a:xfrm>
            <a:off x="2849217" y="4196886"/>
            <a:ext cx="26569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>
                <a:solidFill>
                  <a:schemeClr val="bg1"/>
                </a:solidFill>
              </a:rPr>
              <a:t>INTERMITENTE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DA7049F-ACEB-44AA-7E9D-61B24843C194}"/>
              </a:ext>
            </a:extLst>
          </p:cNvPr>
          <p:cNvSpPr/>
          <p:nvPr/>
        </p:nvSpPr>
        <p:spPr>
          <a:xfrm>
            <a:off x="5890989" y="3676085"/>
            <a:ext cx="2667000" cy="145773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6A48E6-2ECE-6EC5-EB41-9DBCBC765B07}"/>
              </a:ext>
            </a:extLst>
          </p:cNvPr>
          <p:cNvSpPr txBox="1"/>
          <p:nvPr/>
        </p:nvSpPr>
        <p:spPr>
          <a:xfrm>
            <a:off x="5877384" y="4186047"/>
            <a:ext cx="26705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>
                <a:solidFill>
                  <a:schemeClr val="bg1"/>
                </a:solidFill>
              </a:rPr>
              <a:t>DETERMINADO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EC1F2B4-C2F9-63C5-CBB9-F87B70C73FEC}"/>
              </a:ext>
            </a:extLst>
          </p:cNvPr>
          <p:cNvSpPr txBox="1"/>
          <p:nvPr/>
        </p:nvSpPr>
        <p:spPr>
          <a:xfrm>
            <a:off x="2843892" y="5358848"/>
            <a:ext cx="60119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65BA355-AFF6-CC2C-D2F8-AD15639B3D33}"/>
              </a:ext>
            </a:extLst>
          </p:cNvPr>
          <p:cNvSpPr txBox="1"/>
          <p:nvPr/>
        </p:nvSpPr>
        <p:spPr>
          <a:xfrm rot="16200000">
            <a:off x="789588" y="3099710"/>
            <a:ext cx="3380735" cy="4727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/>
              <a:t>Inclusão Produtiva</a:t>
            </a:r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C6F1F89-AF93-2195-085B-A94734303BCB}"/>
              </a:ext>
            </a:extLst>
          </p:cNvPr>
          <p:cNvSpPr txBox="1"/>
          <p:nvPr/>
        </p:nvSpPr>
        <p:spPr>
          <a:xfrm>
            <a:off x="3782284" y="5364724"/>
            <a:ext cx="38153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ea typeface="+mn-lt"/>
                <a:cs typeface="+mn-lt"/>
              </a:rPr>
              <a:t>Mobilidade Social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427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ângulo 49">
            <a:extLst>
              <a:ext uri="{FF2B5EF4-FFF2-40B4-BE49-F238E27FC236}">
                <a16:creationId xmlns:a16="http://schemas.microsoft.com/office/drawing/2014/main" id="{9DB170F8-ACD5-67C6-800C-972A5651B287}"/>
              </a:ext>
            </a:extLst>
          </p:cNvPr>
          <p:cNvSpPr/>
          <p:nvPr/>
        </p:nvSpPr>
        <p:spPr>
          <a:xfrm>
            <a:off x="1776976" y="1085602"/>
            <a:ext cx="8658016" cy="46949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5BED6203-AD3E-768E-4358-50ADDA952E60}"/>
              </a:ext>
            </a:extLst>
          </p:cNvPr>
          <p:cNvGrpSpPr/>
          <p:nvPr/>
        </p:nvGrpSpPr>
        <p:grpSpPr>
          <a:xfrm>
            <a:off x="1970155" y="1300147"/>
            <a:ext cx="8064727" cy="4050010"/>
            <a:chOff x="1524678" y="620209"/>
            <a:chExt cx="5438758" cy="2737026"/>
          </a:xfrm>
        </p:grpSpPr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2F1323C5-41E9-C69D-23AB-F25CC9CB5964}"/>
                </a:ext>
              </a:extLst>
            </p:cNvPr>
            <p:cNvCxnSpPr/>
            <p:nvPr/>
          </p:nvCxnSpPr>
          <p:spPr>
            <a:xfrm>
              <a:off x="1924259" y="1698171"/>
              <a:ext cx="4724400" cy="16565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BE784097-9158-6562-780E-95F30DBDF807}"/>
                </a:ext>
              </a:extLst>
            </p:cNvPr>
            <p:cNvCxnSpPr>
              <a:cxnSpLocks/>
            </p:cNvCxnSpPr>
            <p:nvPr/>
          </p:nvCxnSpPr>
          <p:spPr>
            <a:xfrm>
              <a:off x="1946028" y="1210024"/>
              <a:ext cx="16565" cy="496956"/>
            </a:xfrm>
            <a:prstGeom prst="straightConnector1">
              <a:avLst/>
            </a:prstGeom>
            <a:ln w="5715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de Seta Reta 40">
              <a:extLst>
                <a:ext uri="{FF2B5EF4-FFF2-40B4-BE49-F238E27FC236}">
                  <a16:creationId xmlns:a16="http://schemas.microsoft.com/office/drawing/2014/main" id="{2F8B0B8C-21A7-D0C9-2278-D375BDB5C0EC}"/>
                </a:ext>
              </a:extLst>
            </p:cNvPr>
            <p:cNvCxnSpPr>
              <a:cxnSpLocks/>
            </p:cNvCxnSpPr>
            <p:nvPr/>
          </p:nvCxnSpPr>
          <p:spPr>
            <a:xfrm>
              <a:off x="6600090" y="1210024"/>
              <a:ext cx="16565" cy="496956"/>
            </a:xfrm>
            <a:prstGeom prst="straightConnector1">
              <a:avLst/>
            </a:prstGeom>
            <a:ln w="5715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E8B62AC5-AB6B-D40A-B8E8-F9C64B7684CE}"/>
                </a:ext>
              </a:extLst>
            </p:cNvPr>
            <p:cNvSpPr/>
            <p:nvPr/>
          </p:nvSpPr>
          <p:spPr>
            <a:xfrm>
              <a:off x="1524678" y="620209"/>
              <a:ext cx="1752600" cy="76607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123EFA9-34AD-C6A7-B488-15A0C1368F83}"/>
                </a:ext>
              </a:extLst>
            </p:cNvPr>
            <p:cNvSpPr txBox="1"/>
            <p:nvPr/>
          </p:nvSpPr>
          <p:spPr>
            <a:xfrm>
              <a:off x="1524679" y="714390"/>
              <a:ext cx="1816327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400" b="1"/>
                <a:t>ROI</a:t>
              </a:r>
            </a:p>
            <a:p>
              <a:pPr algn="ctr"/>
              <a:r>
                <a:rPr lang="pt-BR" sz="1400" b="1"/>
                <a:t>SOCIAL</a:t>
              </a: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0BB104E4-6BD2-9688-7738-21589EAD3520}"/>
                </a:ext>
              </a:extLst>
            </p:cNvPr>
            <p:cNvSpPr/>
            <p:nvPr/>
          </p:nvSpPr>
          <p:spPr>
            <a:xfrm>
              <a:off x="3369504" y="624252"/>
              <a:ext cx="1752600" cy="75435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92B35D5-B6D2-9B56-05B3-03BA5C126927}"/>
                </a:ext>
              </a:extLst>
            </p:cNvPr>
            <p:cNvSpPr txBox="1"/>
            <p:nvPr/>
          </p:nvSpPr>
          <p:spPr>
            <a:xfrm>
              <a:off x="3343278" y="831389"/>
              <a:ext cx="1842554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400" b="1">
                  <a:ea typeface="+mn-lt"/>
                  <a:cs typeface="+mn-lt"/>
                </a:rPr>
                <a:t>COMPLIANCE</a:t>
              </a:r>
              <a:endParaRPr lang="pt-BR" b="1"/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C78473A4-2B0E-208E-E5B9-17037996D1FA}"/>
                </a:ext>
              </a:extLst>
            </p:cNvPr>
            <p:cNvSpPr/>
            <p:nvPr/>
          </p:nvSpPr>
          <p:spPr>
            <a:xfrm>
              <a:off x="5205723" y="621680"/>
              <a:ext cx="1752600" cy="76607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ACE65BD9-809C-0B25-4727-D29A474BEDE4}"/>
                </a:ext>
              </a:extLst>
            </p:cNvPr>
            <p:cNvSpPr txBox="1"/>
            <p:nvPr/>
          </p:nvSpPr>
          <p:spPr>
            <a:xfrm>
              <a:off x="5182278" y="720797"/>
              <a:ext cx="1781158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400" b="1">
                  <a:ea typeface="+mn-lt"/>
                  <a:cs typeface="+mn-lt"/>
                </a:rPr>
                <a:t>IMPACTO EM DIVERSIDADE</a:t>
              </a:r>
              <a:endParaRPr lang="pt-BR" b="1"/>
            </a:p>
          </p:txBody>
        </p: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922E97D9-48B7-6219-B0E3-8F2708A44EEF}"/>
                </a:ext>
              </a:extLst>
            </p:cNvPr>
            <p:cNvCxnSpPr>
              <a:cxnSpLocks/>
            </p:cNvCxnSpPr>
            <p:nvPr/>
          </p:nvCxnSpPr>
          <p:spPr>
            <a:xfrm>
              <a:off x="4173413" y="1374147"/>
              <a:ext cx="16565" cy="860371"/>
            </a:xfrm>
            <a:prstGeom prst="straightConnector1">
              <a:avLst/>
            </a:prstGeom>
            <a:ln w="57150"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>
              <a:extLst>
                <a:ext uri="{FF2B5EF4-FFF2-40B4-BE49-F238E27FC236}">
                  <a16:creationId xmlns:a16="http://schemas.microsoft.com/office/drawing/2014/main" id="{7C108A7A-F778-968C-C3A3-AAE15146B0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9365" y="2265720"/>
              <a:ext cx="3235570" cy="6881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B0C1636C-1665-3054-0AF9-E0F9A0EC08E5}"/>
                </a:ext>
              </a:extLst>
            </p:cNvPr>
            <p:cNvCxnSpPr>
              <a:cxnSpLocks/>
            </p:cNvCxnSpPr>
            <p:nvPr/>
          </p:nvCxnSpPr>
          <p:spPr>
            <a:xfrm>
              <a:off x="2661136" y="2265101"/>
              <a:ext cx="16565" cy="496956"/>
            </a:xfrm>
            <a:prstGeom prst="straightConnector1">
              <a:avLst/>
            </a:prstGeom>
            <a:ln w="57150"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64CC64B0-679F-2D6E-EE75-6E95732BB914}"/>
                </a:ext>
              </a:extLst>
            </p:cNvPr>
            <p:cNvCxnSpPr>
              <a:cxnSpLocks/>
            </p:cNvCxnSpPr>
            <p:nvPr/>
          </p:nvCxnSpPr>
          <p:spPr>
            <a:xfrm>
              <a:off x="4185136" y="2276823"/>
              <a:ext cx="16565" cy="496956"/>
            </a:xfrm>
            <a:prstGeom prst="straightConnector1">
              <a:avLst/>
            </a:prstGeom>
            <a:ln w="57150"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de Seta Reta 37">
              <a:extLst>
                <a:ext uri="{FF2B5EF4-FFF2-40B4-BE49-F238E27FC236}">
                  <a16:creationId xmlns:a16="http://schemas.microsoft.com/office/drawing/2014/main" id="{99F012D6-EC90-1712-4BBA-5338452CE074}"/>
                </a:ext>
              </a:extLst>
            </p:cNvPr>
            <p:cNvCxnSpPr>
              <a:cxnSpLocks/>
            </p:cNvCxnSpPr>
            <p:nvPr/>
          </p:nvCxnSpPr>
          <p:spPr>
            <a:xfrm>
              <a:off x="5849813" y="2265101"/>
              <a:ext cx="16565" cy="496956"/>
            </a:xfrm>
            <a:prstGeom prst="straightConnector1">
              <a:avLst/>
            </a:prstGeom>
            <a:ln w="57150"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20432F74-6CC5-F024-C4B9-83114C2F5E1D}"/>
                </a:ext>
              </a:extLst>
            </p:cNvPr>
            <p:cNvSpPr/>
            <p:nvPr/>
          </p:nvSpPr>
          <p:spPr>
            <a:xfrm>
              <a:off x="1712247" y="2765531"/>
              <a:ext cx="1342293" cy="59023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9BDA6952-8AAD-DCA2-F384-98C765692631}"/>
                </a:ext>
              </a:extLst>
            </p:cNvPr>
            <p:cNvSpPr/>
            <p:nvPr/>
          </p:nvSpPr>
          <p:spPr>
            <a:xfrm>
              <a:off x="3557073" y="2769574"/>
              <a:ext cx="1342293" cy="57851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tângulo: Cantos Arredondados 43">
              <a:extLst>
                <a:ext uri="{FF2B5EF4-FFF2-40B4-BE49-F238E27FC236}">
                  <a16:creationId xmlns:a16="http://schemas.microsoft.com/office/drawing/2014/main" id="{91064DAB-A5D0-5F68-87BB-25041064ADA4}"/>
                </a:ext>
              </a:extLst>
            </p:cNvPr>
            <p:cNvSpPr/>
            <p:nvPr/>
          </p:nvSpPr>
          <p:spPr>
            <a:xfrm>
              <a:off x="5393292" y="2767002"/>
              <a:ext cx="1342293" cy="59023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81C4F0FF-ADE2-5114-65E4-B42B2A21ED89}"/>
                </a:ext>
              </a:extLst>
            </p:cNvPr>
            <p:cNvSpPr txBox="1"/>
            <p:nvPr/>
          </p:nvSpPr>
          <p:spPr>
            <a:xfrm>
              <a:off x="1702046" y="2954735"/>
              <a:ext cx="1350185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000" b="1"/>
                <a:t>INDETERMINADO</a:t>
              </a:r>
              <a:endParaRPr lang="pt-BR" sz="1000"/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53260D97-2C09-AA13-2E1B-8252535ECC02}"/>
                </a:ext>
              </a:extLst>
            </p:cNvPr>
            <p:cNvSpPr txBox="1"/>
            <p:nvPr/>
          </p:nvSpPr>
          <p:spPr>
            <a:xfrm>
              <a:off x="3566015" y="2943012"/>
              <a:ext cx="1350185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000" b="1"/>
                <a:t>DETERMINADO</a:t>
              </a:r>
            </a:p>
          </p:txBody>
        </p:sp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id="{F7F95FD2-2026-8E15-D4CD-CE8AB9F4E73C}"/>
                </a:ext>
              </a:extLst>
            </p:cNvPr>
            <p:cNvSpPr txBox="1"/>
            <p:nvPr/>
          </p:nvSpPr>
          <p:spPr>
            <a:xfrm>
              <a:off x="5406537" y="2954734"/>
              <a:ext cx="1350185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000" b="1"/>
                <a:t>ESTÁGIO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993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45ACAD80-6816-97A5-0AC3-990BEF8A1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8" y="885825"/>
            <a:ext cx="660082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66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C39DB75A-F88A-F705-3D8F-4E29E38A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538" y="742950"/>
            <a:ext cx="6238553" cy="5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595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</cp:revision>
  <dcterms:created xsi:type="dcterms:W3CDTF">2026-01-26T23:55:40Z</dcterms:created>
  <dcterms:modified xsi:type="dcterms:W3CDTF">2026-01-27T17:50:04Z</dcterms:modified>
</cp:coreProperties>
</file>